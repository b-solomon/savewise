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FFFFFF"/>
                </a:solidFill>
                <a:latin typeface="Arial"/>
              </a:defRPr>
            </a:pPr>
            <a:r>
              <a:rPr sz="1800" b="0" i="0" u="none" strike="noStrike">
                <a:solidFill>
                  <a:srgbClr val="FFFFFF"/>
                </a:solidFill>
                <a:latin typeface="Arial"/>
              </a:rPr>
              <a:t>Growth in Digital Payments (UPI)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Digital Transactions (Billions)</c:v>
                </c:pt>
              </c:strCache>
            </c:strRef>
          </c:tx>
          <c:spPr>
            <a:solidFill>
              <a:srgbClr val="34D39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2022</c:v>
                  </c:pt>
                  <c:pt idx="1">
                    <c:v>2023</c:v>
                  </c:pt>
                  <c:pt idx="2">
                    <c:v>2024</c:v>
                  </c:pt>
                  <c:pt idx="3">
                    <c:v>2025</c:v>
                  </c:pt>
                  <c:pt idx="4">
                    <c:v>2026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45</c:v>
                </c:pt>
                <c:pt idx="1">
                  <c:v>74</c:v>
                </c:pt>
                <c:pt idx="2">
                  <c:v>114</c:v>
                </c:pt>
                <c:pt idx="3">
                  <c:v>160</c:v>
                </c:pt>
                <c:pt idx="4">
                  <c:v>220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CCCC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CCCC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FFFFFF"/>
                </a:solidFill>
                <a:latin typeface="Arial"/>
              </a:defRPr>
            </a:pPr>
            <a:r>
              <a:rPr sz="1800" b="0" i="0" u="none" strike="noStrike">
                <a:solidFill>
                  <a:srgbClr val="FFFFFF"/>
                </a:solidFill>
                <a:latin typeface="Arial"/>
              </a:rPr>
              <a:t>AI-Powered Categorization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Automated Categorization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F97316"/>
              </a:solidFill>
              <a:effectLst/>
            </c:spPr>
          </c:dPt>
          <c:dPt>
            <c:idx val="1"/>
            <c:bubble3D val="0"/>
            <c:spPr>
              <a:solidFill>
                <a:srgbClr val="3B82F6"/>
              </a:solidFill>
              <a:effectLst/>
            </c:spPr>
          </c:dPt>
          <c:dPt>
            <c:idx val="2"/>
            <c:bubble3D val="0"/>
            <c:spPr>
              <a:solidFill>
                <a:srgbClr val="A855F7"/>
              </a:solidFill>
              <a:effectLst/>
            </c:spPr>
          </c:dPt>
          <c:dPt>
            <c:idx val="3"/>
            <c:bubble3D val="0"/>
            <c:spPr>
              <a:solidFill>
                <a:srgbClr val="EAB308"/>
              </a:solidFill>
              <a:effectLst/>
            </c:spPr>
          </c:dPt>
          <c:dPt>
            <c:idx val="4"/>
            <c:bubble3D val="0"/>
            <c:spPr>
              <a:solidFill>
                <a:srgbClr val="14B8A6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Food</c:v>
                </c:pt>
                <c:pt idx="1">
                  <c:v>Transport</c:v>
                </c:pt>
                <c:pt idx="2">
                  <c:v>Shopping</c:v>
                </c:pt>
                <c:pt idx="3">
                  <c:v>Bills</c:v>
                </c:pt>
                <c:pt idx="4">
                  <c:v>Health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40</c:v>
                </c:pt>
                <c:pt idx="1">
                  <c:v>20</c:v>
                </c:pt>
                <c:pt idx="2">
                  <c:v>15</c:v>
                </c:pt>
                <c:pt idx="3">
                  <c:v>15</c:v>
                </c:pt>
                <c:pt idx="4">
                  <c:v>10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solidFill>
                <a:srgbClr val="FFFFFF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Portfolio</c:v>
                </c:pt>
              </c:strCache>
            </c:strRef>
          </c:tx>
          <c:spPr>
            <a:solidFill>
              <a:srgbClr val="6366F1"/>
            </a:solidFill>
            <a:ln w="38100" cap="flat">
              <a:solidFill>
                <a:srgbClr val="6366F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6366F1"/>
              </a:solidFill>
              <a:ln w="9525" cap="flat">
                <a:solidFill>
                  <a:srgbClr val="6366F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M</c:v>
                  </c:pt>
                  <c:pt idx="1">
                    <c:v>T</c:v>
                  </c:pt>
                  <c:pt idx="2">
                    <c:v>W</c:v>
                  </c:pt>
                  <c:pt idx="3">
                    <c:v>T</c:v>
                  </c:pt>
                  <c:pt idx="4">
                    <c:v>F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120</c:v>
                </c:pt>
                <c:pt idx="1">
                  <c:v>125</c:v>
                </c:pt>
                <c:pt idx="2">
                  <c:v>130</c:v>
                </c:pt>
                <c:pt idx="3">
                  <c:v>128</c:v>
                </c:pt>
                <c:pt idx="4">
                  <c:v>145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SLIDE">
    <p:bg>
      <p:bgPr>
        <a:solidFill>
          <a:srgbClr val="09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286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7320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>
                    <a:alpha val="50000"/>
                  </a:srgbClr>
                </a:solidFill>
              </a:rPr>
              <a:t>SaveWise | Pitch Deck</a:t>
            </a:r>
            <a:endParaRPr lang="en-US" sz="1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800225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</a:rPr>
              <a:t>SaveWise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914400" y="26746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34D399"/>
                </a:solidFill>
              </a:rPr>
              <a:t>Stop tracking. Start growing.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318897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CCCCC"/>
                </a:solidFill>
              </a:rPr>
              <a:t>The intelligent, fully automated personal finance tracker.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SITUATION &amp; PROBLEM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expense tracking is broken.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41148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500"/>
              </a:lnSpc>
              <a:buNone/>
            </a:pPr>
            <a:r>
              <a:rPr lang="en-US" sz="18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Problem: Managing daily spending is overwhelming. People make dozens of micro-transactions daily through UPI, making manual tracking tedious. As a result, they lose track, break their budgets, and fail to see how daily spending impacts their long-term wealth.</a:t>
            </a:r>
            <a:endParaRPr lang="en-US" sz="18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029200" y="1097280"/>
          <a:ext cx="384048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TASK: The Objective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financial clarity with zero friction.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3500"/>
              </a:lnSpc>
              <a:buSzPct val="100000"/>
              <a:buChar char="•"/>
            </a:pPr>
            <a:r>
              <a:rPr lang="en-US" sz="20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 fully automated personal finance tracker.</a:t>
            </a:r>
            <a:endParaRPr lang="en-US" sz="2000" dirty="0"/>
          </a:p>
          <a:p>
            <a:pPr marL="342900" indent="-342900">
              <a:lnSpc>
                <a:spcPts val="3500"/>
              </a:lnSpc>
              <a:buSzPct val="100000"/>
              <a:buChar char="•"/>
            </a:pPr>
            <a:r>
              <a:rPr lang="en-US" sz="20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Eliminate manual data entry completely.</a:t>
            </a:r>
            <a:endParaRPr lang="en-US" sz="2000" dirty="0"/>
          </a:p>
          <a:p>
            <a:pPr marL="342900" indent="-342900">
              <a:lnSpc>
                <a:spcPts val="3500"/>
              </a:lnSpc>
              <a:buSzPct val="100000"/>
              <a:buChar char="•"/>
            </a:pPr>
            <a:r>
              <a:rPr lang="en-US" sz="20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Unify daily cash flow management with long-term wealth building (stocks and investments).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ACTION: The SaveWise Solution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4389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Intelligent parsing &amp; real-time insights.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43891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3500"/>
              </a:lnSpc>
              <a:buSzPct val="100000"/>
              <a:buChar char="•"/>
            </a:pPr>
            <a:r>
              <a:rPr lang="en-US" sz="20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a custom engine that parses standard bank SMS alerts instantly.</a:t>
            </a:r>
            <a:endParaRPr lang="en-US" sz="2000" dirty="0"/>
          </a:p>
          <a:p>
            <a:pPr marL="342900" indent="-342900">
              <a:lnSpc>
                <a:spcPts val="3500"/>
              </a:lnSpc>
              <a:buSzPct val="100000"/>
              <a:buChar char="•"/>
            </a:pPr>
            <a:r>
              <a:rPr lang="en-US" sz="20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Integrated live Yahoo Finance data for real-time stock portfolio tracking.</a:t>
            </a:r>
            <a:endParaRPr lang="en-US" sz="2000" dirty="0"/>
          </a:p>
          <a:p>
            <a:pPr marL="342900" indent="-342900">
              <a:lnSpc>
                <a:spcPts val="3500"/>
              </a:lnSpc>
              <a:buSzPct val="100000"/>
              <a:buChar char="•"/>
            </a:pPr>
            <a:r>
              <a:rPr lang="en-US" sz="20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Engineered an AI Advisor that analyzes real spending habits for actionable feedback.</a:t>
            </a:r>
            <a:endParaRPr lang="en-US" sz="2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029200" y="1097280"/>
          <a:ext cx="384048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ACTION: The Platform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Beautiful, intuitive, and lightning fast.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8229600" cy="3200400"/>
          </a:xfrm>
          <a:prstGeom prst="roundRect">
            <a:avLst/>
          </a:prstGeom>
          <a:solidFill>
            <a:srgbClr val="11131F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645920"/>
            <a:ext cx="1828800" cy="3200400"/>
          </a:xfrm>
          <a:prstGeom prst="rect">
            <a:avLst/>
          </a:prstGeom>
          <a:solidFill>
            <a:srgbClr val="1A1C29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8288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SaveWise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2286000"/>
            <a:ext cx="16459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500"/>
              </a:lnSpc>
              <a:buNone/>
            </a:pPr>
            <a:r>
              <a:rPr lang="en-US" sz="1200" dirty="0">
                <a:solidFill>
                  <a:srgbClr val="E0E0E0"/>
                </a:solidFill>
              </a:rPr>
              <a:t>■ Dashboard</a:t>
            </a:r>
            <a:endParaRPr lang="en-US" sz="1200" dirty="0"/>
          </a:p>
          <a:p>
            <a:pPr indent="0" marL="0">
              <a:lnSpc>
                <a:spcPts val="2500"/>
              </a:lnSpc>
              <a:buNone/>
            </a:pPr>
            <a:r>
              <a:rPr lang="en-US" sz="1200" dirty="0">
                <a:solidFill>
                  <a:srgbClr val="E0E0E0"/>
                </a:solidFill>
              </a:rPr>
              <a:t>■ Portfolio</a:t>
            </a:r>
            <a:endParaRPr lang="en-US" sz="1200" dirty="0"/>
          </a:p>
          <a:p>
            <a:pPr indent="0" marL="0">
              <a:lnSpc>
                <a:spcPts val="2500"/>
              </a:lnSpc>
              <a:buNone/>
            </a:pPr>
            <a:r>
              <a:rPr lang="en-US" sz="1200" dirty="0">
                <a:solidFill>
                  <a:srgbClr val="E0E0E0"/>
                </a:solidFill>
              </a:rPr>
              <a:t>■ AI Advisor</a:t>
            </a:r>
            <a:endParaRPr lang="en-US" sz="1200" dirty="0"/>
          </a:p>
          <a:p>
            <a:pPr indent="0" marL="0">
              <a:lnSpc>
                <a:spcPts val="2500"/>
              </a:lnSpc>
              <a:buNone/>
            </a:pPr>
            <a:r>
              <a:rPr lang="en-US" sz="1200" dirty="0">
                <a:solidFill>
                  <a:srgbClr val="E0E0E0"/>
                </a:solidFill>
              </a:rPr>
              <a:t>■ Settings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560320" y="18288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</a:rPr>
              <a:t>Total Net Worth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560320" y="21031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₹ 1,45,000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4389120" y="21945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</a:rPr>
              <a:t>▲ +15% this month</a:t>
            </a:r>
            <a:endParaRPr lang="en-US" sz="120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2560320" y="2743200"/>
          <a:ext cx="3200400" cy="1828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2" name="Shape 9"/>
          <p:cNvSpPr/>
          <p:nvPr/>
        </p:nvSpPr>
        <p:spPr>
          <a:xfrm>
            <a:off x="6217920" y="1828800"/>
            <a:ext cx="2286000" cy="2834640"/>
          </a:xfrm>
          <a:prstGeom prst="roundRect">
            <a:avLst/>
          </a:prstGeom>
          <a:solidFill>
            <a:srgbClr val="1A1C29"/>
          </a:solidFill>
          <a:ln/>
        </p:spPr>
      </p:sp>
      <p:sp>
        <p:nvSpPr>
          <p:cNvPr id="13" name="Text 10"/>
          <p:cNvSpPr/>
          <p:nvPr/>
        </p:nvSpPr>
        <p:spPr>
          <a:xfrm>
            <a:off x="6400800" y="20116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Recent Transactions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400800" y="2377440"/>
            <a:ext cx="19202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500"/>
              </a:lnSpc>
              <a:buNone/>
            </a:pPr>
            <a:r>
              <a:rPr lang="en-US" sz="1100" dirty="0">
                <a:solidFill>
                  <a:srgbClr val="E0E0E0"/>
                </a:solidFill>
              </a:rPr>
              <a:t>🍔 Swiggy       -₹450</a:t>
            </a:r>
            <a:endParaRPr lang="en-US" sz="1100" dirty="0"/>
          </a:p>
          <a:p>
            <a:pPr indent="0" marL="0">
              <a:lnSpc>
                <a:spcPts val="2500"/>
              </a:lnSpc>
              <a:buNone/>
            </a:pPr>
            <a:r>
              <a:rPr lang="en-US" sz="1100" dirty="0">
                <a:solidFill>
                  <a:srgbClr val="E0E0E0"/>
                </a:solidFill>
              </a:rPr>
              <a:t>🚗 Uber          -₹200</a:t>
            </a:r>
            <a:endParaRPr lang="en-US" sz="1100" dirty="0"/>
          </a:p>
          <a:p>
            <a:pPr indent="0" marL="0">
              <a:lnSpc>
                <a:spcPts val="2500"/>
              </a:lnSpc>
              <a:buNone/>
            </a:pPr>
            <a:r>
              <a:rPr lang="en-US" sz="1100" dirty="0">
                <a:solidFill>
                  <a:srgbClr val="E0E0E0"/>
                </a:solidFill>
              </a:rPr>
              <a:t>📈 Stocks       -₹5000</a:t>
            </a:r>
            <a:endParaRPr lang="en-US" sz="1100" dirty="0"/>
          </a:p>
          <a:p>
            <a:pPr indent="0" marL="0">
              <a:lnSpc>
                <a:spcPts val="2500"/>
              </a:lnSpc>
              <a:buNone/>
            </a:pPr>
            <a:r>
              <a:rPr lang="en-US" sz="1100" dirty="0">
                <a:solidFill>
                  <a:srgbClr val="E0E0E0"/>
                </a:solidFill>
              </a:rPr>
              <a:t>💰 Salary      +₹50000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RESULT: The Outcome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production-ready financial ecosystem.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3500"/>
              </a:lnSpc>
              <a:buSzPct val="100000"/>
              <a:buChar char="•"/>
            </a:pPr>
            <a:r>
              <a:rPr lang="en-US" sz="20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automated expense tracking achieved for users.</a:t>
            </a:r>
            <a:endParaRPr lang="en-US" sz="2000" dirty="0"/>
          </a:p>
          <a:p>
            <a:pPr marL="342900" indent="-342900">
              <a:lnSpc>
                <a:spcPts val="3500"/>
              </a:lnSpc>
              <a:buSzPct val="100000"/>
              <a:buChar char="•"/>
            </a:pPr>
            <a:r>
              <a:rPr lang="en-US" sz="20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Bank-grade security with AES-256-GCM encryption and robust SQLite fallback.</a:t>
            </a:r>
            <a:endParaRPr lang="en-US" sz="2000" dirty="0"/>
          </a:p>
          <a:p>
            <a:pPr marL="342900" indent="-342900">
              <a:lnSpc>
                <a:spcPts val="3500"/>
              </a:lnSpc>
              <a:buSzPct val="100000"/>
              <a:buChar char="•"/>
            </a:pPr>
            <a:r>
              <a:rPr lang="en-US" sz="20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comprehensive automated health checks running daily ensuring maximum reliability.</a:t>
            </a:r>
            <a:endParaRPr lang="en-US" sz="2000" dirty="0"/>
          </a:p>
          <a:p>
            <a:pPr marL="342900" indent="-342900">
              <a:lnSpc>
                <a:spcPts val="3500"/>
              </a:lnSpc>
              <a:buSzPct val="100000"/>
              <a:buChar char="•"/>
            </a:pPr>
            <a:r>
              <a:rPr lang="en-US" sz="20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test coverage across core engines.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ASK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Let's scale SaveWise.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41148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500"/>
              </a:lnSpc>
              <a:buNone/>
            </a:pPr>
            <a:r>
              <a:rPr lang="en-US" sz="18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Team:</a:t>
            </a:r>
            <a:endParaRPr lang="en-US" sz="1800" dirty="0"/>
          </a:p>
          <a:p>
            <a:pPr indent="0" marL="0">
              <a:lnSpc>
                <a:spcPts val="2500"/>
              </a:lnSpc>
              <a:buNone/>
            </a:pPr>
            <a:r>
              <a:rPr lang="en-US" sz="18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by Soloking (2nd-Year CSE B.Tech Student) with a passion for FinTech and automation. Engineered from the ground up for scale and reliability.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029200" y="2011680"/>
            <a:ext cx="36576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500"/>
              </a:lnSpc>
              <a:buNone/>
            </a:pPr>
            <a:r>
              <a:rPr lang="en-US" sz="18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Opportunity:</a:t>
            </a:r>
            <a:endParaRPr lang="en-US" sz="1800" dirty="0"/>
          </a:p>
          <a:p>
            <a:pPr indent="0" marL="0">
              <a:lnSpc>
                <a:spcPts val="2500"/>
              </a:lnSpc>
              <a:buNone/>
            </a:pPr>
            <a:r>
              <a:rPr lang="en-US" sz="18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Seeking seed funding and mentorship to scale infrastructure, integrate direct banking APIs, and drive user acquisition among students and young professionals.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2026-07-15T17:46:02Z</dcterms:created>
  <dcterms:modified xsi:type="dcterms:W3CDTF">2026-07-15T17:46:02Z</dcterms:modified>
</cp:coreProperties>
</file>